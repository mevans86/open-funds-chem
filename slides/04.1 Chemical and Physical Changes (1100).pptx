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301" r:id="rId4"/>
    <p:sldId id="302" r:id="rId5"/>
    <p:sldId id="303" r:id="rId6"/>
    <p:sldId id="307" r:id="rId7"/>
  </p:sldIdLst>
  <p:sldSz cx="12192000" cy="6858000"/>
  <p:notesSz cx="6858000" cy="9144000"/>
  <p:embeddedFontLst>
    <p:embeddedFont>
      <p:font typeface="Source Sans Pro" panose="020B0503030403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26E294-CD46-DA47-B2EB-C7A70E6CD31B}" v="1" dt="2025-11-20T21:01:22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s, Michael J" userId="d37cb781-974c-4040-9454-473d5e1b7abb" providerId="ADAL" clId="{AB0B170C-388A-5665-B24B-AAE3B41E6CDB}"/>
    <pc:docChg chg="modSld">
      <pc:chgData name="Evans, Michael J" userId="d37cb781-974c-4040-9454-473d5e1b7abb" providerId="ADAL" clId="{AB0B170C-388A-5665-B24B-AAE3B41E6CDB}" dt="2025-11-20T21:01:41.739" v="16" actId="20577"/>
      <pc:docMkLst>
        <pc:docMk/>
      </pc:docMkLst>
      <pc:sldChg chg="modSp mod">
        <pc:chgData name="Evans, Michael J" userId="d37cb781-974c-4040-9454-473d5e1b7abb" providerId="ADAL" clId="{AB0B170C-388A-5665-B24B-AAE3B41E6CDB}" dt="2025-11-20T21:00:59.306" v="0" actId="962"/>
        <pc:sldMkLst>
          <pc:docMk/>
          <pc:sldMk cId="749830639" sldId="258"/>
        </pc:sldMkLst>
        <pc:cxnChg chg="mod">
          <ac:chgData name="Evans, Michael J" userId="d37cb781-974c-4040-9454-473d5e1b7abb" providerId="ADAL" clId="{AB0B170C-388A-5665-B24B-AAE3B41E6CDB}" dt="2025-11-20T21:00:59.306" v="0" actId="962"/>
          <ac:cxnSpMkLst>
            <pc:docMk/>
            <pc:sldMk cId="749830639" sldId="258"/>
            <ac:cxnSpMk id="5" creationId="{EEBA2BA1-4D6C-B397-23BA-566D86BFD97F}"/>
          </ac:cxnSpMkLst>
        </pc:cxnChg>
      </pc:sldChg>
      <pc:sldChg chg="modSp mod">
        <pc:chgData name="Evans, Michael J" userId="d37cb781-974c-4040-9454-473d5e1b7abb" providerId="ADAL" clId="{AB0B170C-388A-5665-B24B-AAE3B41E6CDB}" dt="2025-11-20T21:01:01.879" v="1" actId="962"/>
        <pc:sldMkLst>
          <pc:docMk/>
          <pc:sldMk cId="1149267971" sldId="301"/>
        </pc:sldMkLst>
        <pc:cxnChg chg="mod">
          <ac:chgData name="Evans, Michael J" userId="d37cb781-974c-4040-9454-473d5e1b7abb" providerId="ADAL" clId="{AB0B170C-388A-5665-B24B-AAE3B41E6CDB}" dt="2025-11-20T21:01:01.879" v="1" actId="962"/>
          <ac:cxnSpMkLst>
            <pc:docMk/>
            <pc:sldMk cId="1149267971" sldId="301"/>
            <ac:cxnSpMk id="5" creationId="{EC51897E-58C7-2C8E-C08A-E81CE340E8C6}"/>
          </ac:cxnSpMkLst>
        </pc:cxnChg>
      </pc:sldChg>
      <pc:sldChg chg="modSp mod">
        <pc:chgData name="Evans, Michael J" userId="d37cb781-974c-4040-9454-473d5e1b7abb" providerId="ADAL" clId="{AB0B170C-388A-5665-B24B-AAE3B41E6CDB}" dt="2025-11-20T21:01:17.743" v="14" actId="207"/>
        <pc:sldMkLst>
          <pc:docMk/>
          <pc:sldMk cId="647430305" sldId="302"/>
        </pc:sldMkLst>
        <pc:spChg chg="mod">
          <ac:chgData name="Evans, Michael J" userId="d37cb781-974c-4040-9454-473d5e1b7abb" providerId="ADAL" clId="{AB0B170C-388A-5665-B24B-AAE3B41E6CDB}" dt="2025-11-20T21:01:17.743" v="14" actId="207"/>
          <ac:spMkLst>
            <pc:docMk/>
            <pc:sldMk cId="647430305" sldId="302"/>
            <ac:spMk id="2" creationId="{9A81E554-7A23-5BE0-B11D-6CA1691EA7E0}"/>
          </ac:spMkLst>
        </pc:spChg>
        <pc:cxnChg chg="mod">
          <ac:chgData name="Evans, Michael J" userId="d37cb781-974c-4040-9454-473d5e1b7abb" providerId="ADAL" clId="{AB0B170C-388A-5665-B24B-AAE3B41E6CDB}" dt="2025-11-20T21:01:03.780" v="2" actId="962"/>
          <ac:cxnSpMkLst>
            <pc:docMk/>
            <pc:sldMk cId="647430305" sldId="302"/>
            <ac:cxnSpMk id="5" creationId="{62BF904E-B185-4B4C-4527-BC743CB558F1}"/>
          </ac:cxnSpMkLst>
        </pc:cxnChg>
      </pc:sldChg>
      <pc:sldChg chg="modSp mod">
        <pc:chgData name="Evans, Michael J" userId="d37cb781-974c-4040-9454-473d5e1b7abb" providerId="ADAL" clId="{AB0B170C-388A-5665-B24B-AAE3B41E6CDB}" dt="2025-11-20T21:01:41.739" v="16" actId="20577"/>
        <pc:sldMkLst>
          <pc:docMk/>
          <pc:sldMk cId="351822408" sldId="303"/>
        </pc:sldMkLst>
        <pc:spChg chg="mod">
          <ac:chgData name="Evans, Michael J" userId="d37cb781-974c-4040-9454-473d5e1b7abb" providerId="ADAL" clId="{AB0B170C-388A-5665-B24B-AAE3B41E6CDB}" dt="2025-11-20T21:01:41.739" v="16" actId="20577"/>
          <ac:spMkLst>
            <pc:docMk/>
            <pc:sldMk cId="351822408" sldId="303"/>
            <ac:spMk id="2" creationId="{F3983CAB-C133-614B-FAEF-E0392273C917}"/>
          </ac:spMkLst>
        </pc:spChg>
        <pc:cxnChg chg="mod">
          <ac:chgData name="Evans, Michael J" userId="d37cb781-974c-4040-9454-473d5e1b7abb" providerId="ADAL" clId="{AB0B170C-388A-5665-B24B-AAE3B41E6CDB}" dt="2025-11-20T21:01:05.731" v="3" actId="962"/>
          <ac:cxnSpMkLst>
            <pc:docMk/>
            <pc:sldMk cId="351822408" sldId="303"/>
            <ac:cxnSpMk id="5" creationId="{8FED83D8-D1FD-23DA-3FB2-2D00D663E9C4}"/>
          </ac:cxnSpMkLst>
        </pc:cxnChg>
      </pc:sldChg>
      <pc:sldChg chg="modSp mod">
        <pc:chgData name="Evans, Michael J" userId="d37cb781-974c-4040-9454-473d5e1b7abb" providerId="ADAL" clId="{AB0B170C-388A-5665-B24B-AAE3B41E6CDB}" dt="2025-11-20T21:01:07.504" v="4" actId="962"/>
        <pc:sldMkLst>
          <pc:docMk/>
          <pc:sldMk cId="219579319" sldId="307"/>
        </pc:sldMkLst>
        <pc:cxnChg chg="mod">
          <ac:chgData name="Evans, Michael J" userId="d37cb781-974c-4040-9454-473d5e1b7abb" providerId="ADAL" clId="{AB0B170C-388A-5665-B24B-AAE3B41E6CDB}" dt="2025-11-20T21:01:07.504" v="4" actId="962"/>
          <ac:cxnSpMkLst>
            <pc:docMk/>
            <pc:sldMk cId="219579319" sldId="307"/>
            <ac:cxnSpMk id="5" creationId="{4D80F22A-C373-2348-AA6C-A51DE3F8C3F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4F1DC-99E7-AD49-A084-CB5741C208D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EF7C9-FB45-0E49-9994-7913C7D11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0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9B09-4333-B32E-7F91-2E997ED6C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54A81-3D2E-12CD-8D91-F42D7CD66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ABA4-CD08-7641-DB49-B34CCF70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962A-6380-2C46-A729-B78212BA7A91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8464-AFA5-DA9B-1AC7-CD25B645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4F71D9-9084-0478-D288-97A46B5C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92874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9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DA0A-355D-833F-4BC2-430EBF63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B6DF3-80B1-9B27-376F-96897A0B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E8158-7FBD-7AEE-448D-A8A9011C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55A47-C368-2A4F-B5BE-DCA95FCAEF0E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341A-C831-7D0C-3351-841749ED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4707B-18AF-FB1A-E7A5-DA8D7181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DE7D-D42D-3E5C-09A1-89D098918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71E1-8DF8-A960-DFE3-8145AC2D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4D8F7-532C-8C9B-68CC-B587FB2C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341E-C701-D44F-BF4E-6941BF3FF35E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2DE8E-5CD9-EE41-D460-EBFD408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7A9C-C678-B5A1-DB57-B8081444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0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402C-19A4-3BE5-A14D-E99C656F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D94D-FE12-2C36-151F-F7C8DD299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B9F9D-1726-F042-769D-811377AFE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4F75-BD26-C9E7-C41A-11FDD60C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BDC7-B1C7-5A47-A90F-ADF0FC1DFC93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BAF45-3107-FAEB-38A6-2F8930A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EE464-87E1-69CC-766D-9F263920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76FA-876B-F685-A6B6-EEA03628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92804-C983-4059-9FE8-D07180648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72E26-9CB5-C438-B294-4F31C1B0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C33F2-0BC0-B7F9-2CC4-FA07D094B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B4C1C-7375-859F-3F15-3C97CF906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2AC62-50DD-305B-1868-D1AC7D382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7DF01-52E1-C24C-B977-E570E94A72E0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1CE86-3D37-E924-CBBB-398AAC99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CDF9-F887-37AB-0A25-55DA84AA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FDBF-7C86-32B0-A111-B4B11BE2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76F7B-F73D-6CF2-EFF2-EE152BDB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56AE-5A33-F848-B490-6CC0DEF0144F}" type="datetime1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227D9-5E08-A441-379B-1948D009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6798D-4D1C-C9B1-12D0-C984B144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0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B7612-431E-8C78-58BF-17941390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D039-004F-474E-AC44-6D8F69794262}" type="datetime1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49ADD-D2B5-8D9A-239A-4A8F13DF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2E766-3165-D926-6337-93E2B7BE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4C16-DA45-B49E-18FC-8E7AC581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5DD3-FE4B-A02E-1DCE-612AEA275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CCE31-F666-D3EE-79C8-40E7E926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ADD2-313B-1ED0-9A8B-BC0F6FCF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C6E8-3EBE-D642-B288-85027E93DD43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EE64B-5CC1-515F-881B-F7BA4406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6973B-BB0F-4E91-5B9A-B71CBC74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6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A0BB-F372-A985-6186-D8428643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DF36D-1307-F9B0-C80A-08B233F69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419E8-0F8E-AB67-41DC-A6FBBE2A1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E58DC-B059-62BF-AE70-EF81AFCE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B1FE-B8F6-ED42-A32A-B888613C827F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3AF49-60B7-09D0-0F27-D0193313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45E62-5A26-C5B1-F5B4-6171C46B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6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077F-BA26-6B85-1109-CCE428F8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C77DF-07C7-9F25-976D-FFAFA5343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53A8-3412-62EC-6773-2C0F944E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CBE56-6607-5C4A-9921-934FAB8E453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9D7CD-65D9-E4F0-2341-AE65F127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D7025-6B8A-D684-1C64-2301DDAC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0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84B58-32C2-A4EF-FF4E-6456BC59B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C0C98-6F97-1AFE-E487-9FEC70282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136AA-0989-0861-1B37-75A8EBB5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AAEB1-60A9-514F-981B-B9386A82945D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38F8F-80C4-9110-D166-9C5E451F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1FD2D-6C82-B671-07D0-2FF20B3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3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E423F-316A-FFC0-2FAD-11D27299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2E7CE-9ED3-C138-7503-B48AA3544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9ACCF-8442-7168-673E-11ABBF0E4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fld id="{9B230A16-2976-3E44-90C9-3A22F491C7E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5F02-012E-F2C6-C461-D769C2D89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34741-1D09-A1D7-14B1-E99D1C0BF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fld id="{7AA357FA-A2A0-DB43-ACF2-E3C3248777A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C3DFE-A830-BD66-0A09-FC32FF6FFF8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449878" y="1"/>
            <a:ext cx="742121" cy="49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1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3618-B985-D05F-F5AE-563D8B3C6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572" y="1122363"/>
            <a:ext cx="10816856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Module 4: Describing Chemical</a:t>
            </a:r>
            <a:br>
              <a:rPr lang="en-US" b="1" dirty="0"/>
            </a:br>
            <a:r>
              <a:rPr lang="en-US" b="1" dirty="0"/>
              <a:t>and Physical Changes</a:t>
            </a:r>
            <a:br>
              <a:rPr lang="en-US" dirty="0"/>
            </a:br>
            <a:r>
              <a:rPr lang="en-US" dirty="0"/>
              <a:t>Chemical and Physical Changes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D0AFD-E86D-8859-BB44-C50E9B1EB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Fundamentals </a:t>
            </a:r>
            <a:r>
              <a:rPr lang="en-US"/>
              <a:t>of Chemistry Open </a:t>
            </a:r>
            <a:r>
              <a:rPr lang="en-US" dirty="0"/>
              <a:t>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804D-1209-EACA-324C-50D0DDD2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A72F-7FE9-6B75-2BB0-86458C17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Learning Objectives | Module 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BA2BA1-4D6C-B397-23BA-566D86BF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C4F782-F384-3DA2-10EC-5A8E281AEDF2}"/>
              </a:ext>
            </a:extLst>
          </p:cNvPr>
          <p:cNvSpPr txBox="1"/>
          <p:nvPr/>
        </p:nvSpPr>
        <p:spPr>
          <a:xfrm>
            <a:off x="367862" y="746235"/>
            <a:ext cx="114562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Distinguish between chemical and physical changes, particularly in equations containing chemical formulas.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Interpret chemical equations to visualize chemical reactions or physical changes.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</a:rPr>
              <a:t>Determine whether a given chemical equation is balanced or not; balance chemical equations.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Source Sans Pro" panose="020B0503030403020204" pitchFamily="34" charset="0"/>
              </a:rPr>
              <a:t>Apply chemical equations to determine the outcome of a chemical reaction on the submicroscopic level.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Source Sans Pro" panose="020B0503030403020204" pitchFamily="34" charset="0"/>
              </a:rPr>
              <a:t>Convert a submicroscopic image of a chemical reaction or physical change into a chemical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FBEB5-EBED-89B9-7E74-048D3365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31200-EC9E-9FE5-1034-EE9A0B0E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AC02-7050-5FC8-076E-AA2FBFFE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b="1" dirty="0"/>
              <a:t>Review.</a:t>
            </a:r>
            <a:r>
              <a:rPr lang="en-US" sz="2400" dirty="0"/>
              <a:t> Physical and Chemical Changes</a:t>
            </a:r>
            <a:endParaRPr lang="en-US" sz="24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51897E-58C7-2C8E-C08A-E81CE340E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8BFAA-A51F-45D5-3AA3-BA206F67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89A3A-EEC5-1F25-AE00-3F217AD9BCCC}"/>
              </a:ext>
            </a:extLst>
          </p:cNvPr>
          <p:cNvSpPr txBox="1"/>
          <p:nvPr/>
        </p:nvSpPr>
        <p:spPr>
          <a:xfrm>
            <a:off x="367862" y="746235"/>
            <a:ext cx="114562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</a:rPr>
              <a:t>Physical changes</a:t>
            </a:r>
            <a:r>
              <a:rPr lang="en-US" dirty="0">
                <a:latin typeface="Source Sans Pro" panose="020B0503030403020204" pitchFamily="34" charset="0"/>
              </a:rPr>
              <a:t> alter the state or appearance of matter but do not affect its chemical composition.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</a:rPr>
              <a:t>Chemical changes (chemical reactions)</a:t>
            </a:r>
            <a:r>
              <a:rPr lang="en-US" dirty="0">
                <a:latin typeface="Source Sans Pro" panose="020B0503030403020204" pitchFamily="34" charset="0"/>
              </a:rPr>
              <a:t> alter the chemical structure of a substance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by breaking and/or forming chemical bonds.</a:t>
            </a:r>
            <a:endParaRPr lang="en-US" b="1" dirty="0">
              <a:latin typeface="Source Sans Pro" panose="020B0503030403020204" pitchFamily="34" charset="0"/>
            </a:endParaRPr>
          </a:p>
        </p:txBody>
      </p:sp>
      <p:pic>
        <p:nvPicPr>
          <p:cNvPr id="7" name="Picture 2" descr="Figure A is a photograph of butter melting in a pot on a stove. Figure B is a photograph of something being heated on a stove in a pot. Water droplets are forming on the underside of a glass cover that has been placed over the pot.">
            <a:extLst>
              <a:ext uri="{FF2B5EF4-FFF2-40B4-BE49-F238E27FC236}">
                <a16:creationId xmlns:a16="http://schemas.microsoft.com/office/drawing/2014/main" id="{76D9B217-6BC4-528D-700B-0BED283FB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531" y="1235483"/>
            <a:ext cx="5293268" cy="220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igure A is a photo of metal machinery that is now mostly covered with reddish orange rust. Figure B shows the silver colored chrome parts of a motorcycle. One of the parts is so shiny that you can see a reflection of the surrounding street and buildings.">
            <a:extLst>
              <a:ext uri="{FF2B5EF4-FFF2-40B4-BE49-F238E27FC236}">
                <a16:creationId xmlns:a16="http://schemas.microsoft.com/office/drawing/2014/main" id="{8246250B-0FB3-5343-B30E-6DC6AD30A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690" y="4268810"/>
            <a:ext cx="5306109" cy="225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3E7CDD-FC86-C21E-F189-27EA17BCA908}"/>
              </a:ext>
            </a:extLst>
          </p:cNvPr>
          <p:cNvSpPr/>
          <p:nvPr/>
        </p:nvSpPr>
        <p:spPr>
          <a:xfrm>
            <a:off x="1173998" y="1235483"/>
            <a:ext cx="2870791" cy="669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ource Sans Pro" panose="020B0503030403020204" pitchFamily="34" charset="0"/>
              </a:rPr>
              <a:t>Melting wax (a) and condensing water (b) are physical changes.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5AB56C-6472-91A2-32A9-F4A68441516C}"/>
              </a:ext>
            </a:extLst>
          </p:cNvPr>
          <p:cNvSpPr/>
          <p:nvPr/>
        </p:nvSpPr>
        <p:spPr>
          <a:xfrm>
            <a:off x="1074028" y="4268810"/>
            <a:ext cx="2970762" cy="856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ource Sans Pro" panose="020B0503030403020204" pitchFamily="34" charset="0"/>
              </a:rPr>
              <a:t>Reaction of iron with oxygen (a) is a chemical change; chromium does not react with oxygen (b).</a:t>
            </a:r>
          </a:p>
        </p:txBody>
      </p:sp>
    </p:spTree>
    <p:extLst>
      <p:ext uri="{BB962C8B-B14F-4D97-AF65-F5344CB8AC3E}">
        <p14:creationId xmlns:p14="http://schemas.microsoft.com/office/powerpoint/2010/main" val="114926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D5013-2056-B352-147C-83762B40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E554-7A23-5BE0-B11D-6CA1691E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Chemical Equations | </a:t>
            </a:r>
            <a:r>
              <a:rPr lang="en-US" sz="2400" dirty="0">
                <a:solidFill>
                  <a:srgbClr val="0070C0"/>
                </a:solidFill>
              </a:rPr>
              <a:t>1 of 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BF904E-B185-4B4C-4527-BC743CB55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1C856D4-B914-444B-37D7-A284AAC76839}"/>
              </a:ext>
            </a:extLst>
          </p:cNvPr>
          <p:cNvSpPr txBox="1"/>
          <p:nvPr/>
        </p:nvSpPr>
        <p:spPr>
          <a:xfrm>
            <a:off x="367862" y="746235"/>
            <a:ext cx="114562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Source Sans Pro" panose="020B0503030403020204" pitchFamily="34" charset="0"/>
              </a:rPr>
              <a:t>Chemical equations</a:t>
            </a:r>
            <a:r>
              <a:rPr lang="en-US" sz="1800" dirty="0">
                <a:latin typeface="Source Sans Pro" panose="020B0503030403020204" pitchFamily="34" charset="0"/>
              </a:rPr>
              <a:t> contain chemical formulas and (usually) phase designators to represent</a:t>
            </a:r>
            <a:br>
              <a:rPr lang="en-US" sz="1800" dirty="0">
                <a:latin typeface="Source Sans Pro" panose="020B0503030403020204" pitchFamily="34" charset="0"/>
              </a:rPr>
            </a:br>
            <a:r>
              <a:rPr lang="en-US" sz="1800" dirty="0">
                <a:latin typeface="Source Sans Pro" panose="020B0503030403020204" pitchFamily="34" charset="0"/>
              </a:rPr>
              <a:t>the state of a chemical system before and after some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3600" dirty="0">
                <a:latin typeface="Source Sans Pro" panose="020B0503030403020204" pitchFamily="34" charset="0"/>
              </a:rPr>
              <a:t>[initial state] → [final state]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The change may be chemical or physical! Physical changes involve </a:t>
            </a:r>
            <a:r>
              <a:rPr lang="en-US" i="1" dirty="0">
                <a:latin typeface="Source Sans Pro" panose="020B0503030403020204" pitchFamily="34" charset="0"/>
              </a:rPr>
              <a:t>only</a:t>
            </a:r>
            <a:r>
              <a:rPr lang="en-US" dirty="0">
                <a:latin typeface="Source Sans Pro" panose="020B0503030403020204" pitchFamily="34" charset="0"/>
              </a:rPr>
              <a:t> a change in phase designator—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chemical formulas do not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Numbers before each chemical formula (</a:t>
            </a:r>
            <a:r>
              <a:rPr lang="en-US" b="1" dirty="0">
                <a:latin typeface="Source Sans Pro" panose="020B0503030403020204" pitchFamily="34" charset="0"/>
              </a:rPr>
              <a:t>stoichiometric coefficients</a:t>
            </a:r>
            <a:r>
              <a:rPr lang="en-US" dirty="0">
                <a:latin typeface="Source Sans Pro" panose="020B0503030403020204" pitchFamily="34" charset="0"/>
              </a:rPr>
              <a:t>) represent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the number of formula units involved in the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Coefficients reflect the number ratios in which formula units combine in a chemical reaction.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Like a recipe, chemical equations can be scaled. In scaling an equation, we multiply all coefficients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by the same scaling factor. Chemical formulas remain unchanged!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7B909-1A98-61D8-B7F7-6CDAFC3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3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7D45A-62D5-C941-03AB-47A79805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3CAB-C133-614B-FAEF-E0392273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Chemical Equations </a:t>
            </a:r>
            <a:r>
              <a:rPr lang="en-US" sz="2400"/>
              <a:t>| </a:t>
            </a:r>
            <a:r>
              <a:rPr lang="en-US" sz="2400">
                <a:solidFill>
                  <a:srgbClr val="0070C0"/>
                </a:solidFill>
              </a:rPr>
              <a:t>2 </a:t>
            </a:r>
            <a:r>
              <a:rPr lang="en-US" sz="2400" dirty="0">
                <a:solidFill>
                  <a:srgbClr val="0070C0"/>
                </a:solidFill>
              </a:rPr>
              <a:t>of 2</a:t>
            </a:r>
            <a:endParaRPr lang="en-US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ED83D8-D1FD-23DA-3FB2-2D00D663E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E99F4B-BD0A-098B-AB9A-46D996E39A01}"/>
              </a:ext>
            </a:extLst>
          </p:cNvPr>
          <p:cNvSpPr txBox="1"/>
          <p:nvPr/>
        </p:nvSpPr>
        <p:spPr>
          <a:xfrm>
            <a:off x="367862" y="746235"/>
            <a:ext cx="1145627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Evaporation of water, a physical change, can be represented as follows.</a:t>
            </a:r>
          </a:p>
          <a:p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O(𝓁) →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  <a:p>
            <a:pPr algn="ctr"/>
            <a:endParaRPr lang="en-US" dirty="0">
              <a:latin typeface="Source Sans Pro" panose="020B0503030403020204" pitchFamily="34" charset="0"/>
            </a:endParaRPr>
          </a:p>
          <a:p>
            <a:pPr algn="ctr"/>
            <a:endParaRPr lang="en-US" dirty="0">
              <a:latin typeface="Source Sans Pro" panose="020B0503030403020204" pitchFamily="34" charset="0"/>
            </a:endParaRPr>
          </a:p>
          <a:p>
            <a:pPr algn="ctr"/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Combustion of butane (C</a:t>
            </a:r>
            <a:r>
              <a:rPr lang="en-US" baseline="-25000" dirty="0">
                <a:latin typeface="Source Sans Pro" panose="020B0503030403020204" pitchFamily="34" charset="0"/>
              </a:rPr>
              <a:t>4</a:t>
            </a:r>
            <a:r>
              <a:rPr lang="en-US" dirty="0">
                <a:latin typeface="Source Sans Pro" panose="020B0503030403020204" pitchFamily="34" charset="0"/>
              </a:rPr>
              <a:t>H</a:t>
            </a:r>
            <a:r>
              <a:rPr lang="en-US" baseline="-25000" dirty="0">
                <a:latin typeface="Source Sans Pro" panose="020B0503030403020204" pitchFamily="34" charset="0"/>
              </a:rPr>
              <a:t>10</a:t>
            </a:r>
            <a:r>
              <a:rPr lang="en-US" dirty="0">
                <a:latin typeface="Source Sans Pro" panose="020B0503030403020204" pitchFamily="34" charset="0"/>
              </a:rPr>
              <a:t>) is a chemical change.</a:t>
            </a:r>
          </a:p>
          <a:p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C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10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+ 6.5 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→ 4 CO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+ 5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  <a:p>
            <a:endParaRPr lang="en-US" dirty="0">
              <a:latin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</a:rPr>
              <a:t>This equation can be scaled to any level desired…</a:t>
            </a:r>
          </a:p>
          <a:p>
            <a:endParaRPr lang="en-US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 C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10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13</a:t>
            </a:r>
            <a:r>
              <a:rPr lang="en-US" sz="2800" dirty="0">
                <a:latin typeface="Source Sans Pro" panose="020B0503030403020204" pitchFamily="34" charset="0"/>
              </a:rPr>
              <a:t> 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→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8</a:t>
            </a:r>
            <a:r>
              <a:rPr lang="en-US" sz="2800" dirty="0">
                <a:latin typeface="Source Sans Pro" panose="020B0503030403020204" pitchFamily="34" charset="0"/>
              </a:rPr>
              <a:t> CO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10</a:t>
            </a:r>
            <a:r>
              <a:rPr lang="en-US" sz="2800" dirty="0">
                <a:latin typeface="Source Sans Pro" panose="020B0503030403020204" pitchFamily="34" charset="0"/>
              </a:rPr>
              <a:t>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  <a:p>
            <a:endParaRPr lang="en-US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1 mol</a:t>
            </a:r>
            <a:r>
              <a:rPr lang="en-US" sz="2800" dirty="0">
                <a:latin typeface="Source Sans Pro" panose="020B0503030403020204" pitchFamily="34" charset="0"/>
              </a:rPr>
              <a:t> C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10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6.5 mol</a:t>
            </a:r>
            <a:r>
              <a:rPr lang="en-US" sz="2800" dirty="0">
                <a:latin typeface="Source Sans Pro" panose="020B0503030403020204" pitchFamily="34" charset="0"/>
              </a:rPr>
              <a:t> 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→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4 mol</a:t>
            </a:r>
            <a:r>
              <a:rPr lang="en-US" sz="2800" dirty="0">
                <a:latin typeface="Source Sans Pro" panose="020B0503030403020204" pitchFamily="34" charset="0"/>
              </a:rPr>
              <a:t> CO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5 mol</a:t>
            </a:r>
            <a:r>
              <a:rPr lang="en-US" sz="2800" dirty="0">
                <a:latin typeface="Source Sans Pro" panose="020B0503030403020204" pitchFamily="34" charset="0"/>
              </a:rPr>
              <a:t>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  <a:p>
            <a:endParaRPr lang="en-US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2 mol</a:t>
            </a:r>
            <a:r>
              <a:rPr lang="en-US" sz="2800" dirty="0">
                <a:latin typeface="Source Sans Pro" panose="020B0503030403020204" pitchFamily="34" charset="0"/>
              </a:rPr>
              <a:t> C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10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13 mol</a:t>
            </a:r>
            <a:r>
              <a:rPr lang="en-US" sz="2800" dirty="0">
                <a:latin typeface="Source Sans Pro" panose="020B0503030403020204" pitchFamily="34" charset="0"/>
              </a:rPr>
              <a:t> 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→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8 mol</a:t>
            </a:r>
            <a:r>
              <a:rPr lang="en-US" sz="2800" dirty="0">
                <a:latin typeface="Source Sans Pro" panose="020B0503030403020204" pitchFamily="34" charset="0"/>
              </a:rPr>
              <a:t> CO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10 mol</a:t>
            </a:r>
            <a:r>
              <a:rPr lang="en-US" sz="2800" dirty="0">
                <a:latin typeface="Source Sans Pro" panose="020B0503030403020204" pitchFamily="34" charset="0"/>
              </a:rPr>
              <a:t>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0C283-34EA-E725-A3CF-B3B92809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1865-05A2-F5D2-3742-802132C2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81FF-1BAE-E822-0A80-2F9867D2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Lingering Questions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0F22A-C373-2348-AA6C-A51DE3F8C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9F8408-22D3-1A18-E04C-E61442AA25A5}"/>
              </a:ext>
            </a:extLst>
          </p:cNvPr>
          <p:cNvSpPr txBox="1"/>
          <p:nvPr/>
        </p:nvSpPr>
        <p:spPr>
          <a:xfrm>
            <a:off x="367862" y="746235"/>
            <a:ext cx="114562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Some chemical substances can react with one another in more than one way. How can we predict the outcome when substances are mixed?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What makes a chemical equation physically plausible? </a:t>
            </a:r>
            <a:r>
              <a:rPr lang="en-US">
                <a:latin typeface="Source Sans Pro" panose="020B0503030403020204" pitchFamily="34" charset="0"/>
              </a:rPr>
              <a:t>What natural laws </a:t>
            </a:r>
            <a:r>
              <a:rPr lang="en-US" dirty="0">
                <a:latin typeface="Source Sans Pro" panose="020B0503030403020204" pitchFamily="34" charset="0"/>
              </a:rPr>
              <a:t>must chemical reactions follow?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7F1A5-6579-1FA1-7B6F-A7128B36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5024</TotalTime>
  <Words>514</Words>
  <Application>Microsoft Macintosh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Aptos</vt:lpstr>
      <vt:lpstr>Source Sans Pro</vt:lpstr>
      <vt:lpstr>Office Theme</vt:lpstr>
      <vt:lpstr>Module 4: Describing Chemical and Physical Changes Chemical and Physical Changes</vt:lpstr>
      <vt:lpstr>Learning Objectives | Module 4</vt:lpstr>
      <vt:lpstr>Review. Physical and Chemical Changes</vt:lpstr>
      <vt:lpstr>Chemical Equations | 1 of 2</vt:lpstr>
      <vt:lpstr>Chemical Equations | 2 of 2</vt:lpstr>
      <vt:lpstr>Lingering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Unit</dc:title>
  <dc:creator>Evans, Michael J</dc:creator>
  <cp:lastModifiedBy>Evans, Michael J</cp:lastModifiedBy>
  <cp:revision>28</cp:revision>
  <dcterms:created xsi:type="dcterms:W3CDTF">2022-12-12T13:57:18Z</dcterms:created>
  <dcterms:modified xsi:type="dcterms:W3CDTF">2025-11-20T21:01:42Z</dcterms:modified>
</cp:coreProperties>
</file>