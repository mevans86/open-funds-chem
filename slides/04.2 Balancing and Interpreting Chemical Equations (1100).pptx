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8" r:id="rId3"/>
    <p:sldId id="302" r:id="rId4"/>
    <p:sldId id="304" r:id="rId5"/>
    <p:sldId id="305" r:id="rId6"/>
    <p:sldId id="306" r:id="rId7"/>
    <p:sldId id="307" r:id="rId8"/>
  </p:sldIdLst>
  <p:sldSz cx="12192000" cy="6858000"/>
  <p:notesSz cx="6858000" cy="9144000"/>
  <p:embeddedFontLst>
    <p:embeddedFont>
      <p:font typeface="Source Sans Pro" panose="020B0503030403020204" pitchFamily="34" charset="0"/>
      <p:regular r:id="rId10"/>
      <p:bold r:id="rId11"/>
      <p:italic r:id="rId12"/>
      <p:boldItalic r:id="rId1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442110D-22C1-864F-96B5-4D50ECF54A30}" v="3" dt="2025-11-20T21:03:18.2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726"/>
  </p:normalViewPr>
  <p:slideViewPr>
    <p:cSldViewPr snapToGrid="0">
      <p:cViewPr varScale="1">
        <p:scale>
          <a:sx n="91" d="100"/>
          <a:sy n="91" d="100"/>
        </p:scale>
        <p:origin x="192" y="8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font" Target="fonts/font1.fntdata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vans, Michael J" userId="d37cb781-974c-4040-9454-473d5e1b7abb" providerId="ADAL" clId="{AB0B170C-388A-5665-B24B-AAE3B41E6CDB}"/>
    <pc:docChg chg="modSld">
      <pc:chgData name="Evans, Michael J" userId="d37cb781-974c-4040-9454-473d5e1b7abb" providerId="ADAL" clId="{AB0B170C-388A-5665-B24B-AAE3B41E6CDB}" dt="2025-11-20T21:03:18.251" v="23"/>
      <pc:docMkLst>
        <pc:docMk/>
      </pc:docMkLst>
      <pc:sldChg chg="modSp mod">
        <pc:chgData name="Evans, Michael J" userId="d37cb781-974c-4040-9454-473d5e1b7abb" providerId="ADAL" clId="{AB0B170C-388A-5665-B24B-AAE3B41E6CDB}" dt="2025-11-20T21:02:17.306" v="0" actId="962"/>
        <pc:sldMkLst>
          <pc:docMk/>
          <pc:sldMk cId="749830639" sldId="258"/>
        </pc:sldMkLst>
        <pc:cxnChg chg="mod">
          <ac:chgData name="Evans, Michael J" userId="d37cb781-974c-4040-9454-473d5e1b7abb" providerId="ADAL" clId="{AB0B170C-388A-5665-B24B-AAE3B41E6CDB}" dt="2025-11-20T21:02:17.306" v="0" actId="962"/>
          <ac:cxnSpMkLst>
            <pc:docMk/>
            <pc:sldMk cId="749830639" sldId="258"/>
            <ac:cxnSpMk id="5" creationId="{EEBA2BA1-4D6C-B397-23BA-566D86BFD97F}"/>
          </ac:cxnSpMkLst>
        </pc:cxnChg>
      </pc:sldChg>
      <pc:sldChg chg="modSp mod">
        <pc:chgData name="Evans, Michael J" userId="d37cb781-974c-4040-9454-473d5e1b7abb" providerId="ADAL" clId="{AB0B170C-388A-5665-B24B-AAE3B41E6CDB}" dt="2025-11-20T21:02:18.175" v="1" actId="962"/>
        <pc:sldMkLst>
          <pc:docMk/>
          <pc:sldMk cId="647430305" sldId="302"/>
        </pc:sldMkLst>
        <pc:cxnChg chg="mod">
          <ac:chgData name="Evans, Michael J" userId="d37cb781-974c-4040-9454-473d5e1b7abb" providerId="ADAL" clId="{AB0B170C-388A-5665-B24B-AAE3B41E6CDB}" dt="2025-11-20T21:02:18.175" v="1" actId="962"/>
          <ac:cxnSpMkLst>
            <pc:docMk/>
            <pc:sldMk cId="647430305" sldId="302"/>
            <ac:cxnSpMk id="5" creationId="{62BF904E-B185-4B4C-4527-BC743CB558F1}"/>
          </ac:cxnSpMkLst>
        </pc:cxnChg>
      </pc:sldChg>
      <pc:sldChg chg="modSp mod">
        <pc:chgData name="Evans, Michael J" userId="d37cb781-974c-4040-9454-473d5e1b7abb" providerId="ADAL" clId="{AB0B170C-388A-5665-B24B-AAE3B41E6CDB}" dt="2025-11-20T21:03:01.119" v="21" actId="20577"/>
        <pc:sldMkLst>
          <pc:docMk/>
          <pc:sldMk cId="3734285077" sldId="304"/>
        </pc:sldMkLst>
        <pc:spChg chg="mod">
          <ac:chgData name="Evans, Michael J" userId="d37cb781-974c-4040-9454-473d5e1b7abb" providerId="ADAL" clId="{AB0B170C-388A-5665-B24B-AAE3B41E6CDB}" dt="2025-11-20T21:03:01.119" v="21" actId="20577"/>
          <ac:spMkLst>
            <pc:docMk/>
            <pc:sldMk cId="3734285077" sldId="304"/>
            <ac:spMk id="2" creationId="{3B360C30-51D4-AF89-2507-FA6969E8B811}"/>
          </ac:spMkLst>
        </pc:spChg>
        <pc:cxnChg chg="mod">
          <ac:chgData name="Evans, Michael J" userId="d37cb781-974c-4040-9454-473d5e1b7abb" providerId="ADAL" clId="{AB0B170C-388A-5665-B24B-AAE3B41E6CDB}" dt="2025-11-20T21:02:18.980" v="2" actId="962"/>
          <ac:cxnSpMkLst>
            <pc:docMk/>
            <pc:sldMk cId="3734285077" sldId="304"/>
            <ac:cxnSpMk id="5" creationId="{0B1C2FC2-1247-46C1-89C0-37456C3F5751}"/>
          </ac:cxnSpMkLst>
        </pc:cxnChg>
      </pc:sldChg>
      <pc:sldChg chg="modSp mod">
        <pc:chgData name="Evans, Michael J" userId="d37cb781-974c-4040-9454-473d5e1b7abb" providerId="ADAL" clId="{AB0B170C-388A-5665-B24B-AAE3B41E6CDB}" dt="2025-11-20T21:02:56.019" v="19" actId="207"/>
        <pc:sldMkLst>
          <pc:docMk/>
          <pc:sldMk cId="639106922" sldId="305"/>
        </pc:sldMkLst>
        <pc:spChg chg="mod">
          <ac:chgData name="Evans, Michael J" userId="d37cb781-974c-4040-9454-473d5e1b7abb" providerId="ADAL" clId="{AB0B170C-388A-5665-B24B-AAE3B41E6CDB}" dt="2025-11-20T21:02:56.019" v="19" actId="207"/>
          <ac:spMkLst>
            <pc:docMk/>
            <pc:sldMk cId="639106922" sldId="305"/>
            <ac:spMk id="2" creationId="{E04DD994-5F54-FC56-B6C0-D3990F064CCC}"/>
          </ac:spMkLst>
        </pc:spChg>
        <pc:cxnChg chg="mod">
          <ac:chgData name="Evans, Michael J" userId="d37cb781-974c-4040-9454-473d5e1b7abb" providerId="ADAL" clId="{AB0B170C-388A-5665-B24B-AAE3B41E6CDB}" dt="2025-11-20T21:02:19.806" v="3" actId="962"/>
          <ac:cxnSpMkLst>
            <pc:docMk/>
            <pc:sldMk cId="639106922" sldId="305"/>
            <ac:cxnSpMk id="5" creationId="{256E7FD1-EA1B-DFDB-3FF0-BE6905D6788D}"/>
          </ac:cxnSpMkLst>
        </pc:cxnChg>
      </pc:sldChg>
      <pc:sldChg chg="modSp mod">
        <pc:chgData name="Evans, Michael J" userId="d37cb781-974c-4040-9454-473d5e1b7abb" providerId="ADAL" clId="{AB0B170C-388A-5665-B24B-AAE3B41E6CDB}" dt="2025-11-20T21:03:18.251" v="23"/>
        <pc:sldMkLst>
          <pc:docMk/>
          <pc:sldMk cId="3633098072" sldId="306"/>
        </pc:sldMkLst>
        <pc:spChg chg="mod">
          <ac:chgData name="Evans, Michael J" userId="d37cb781-974c-4040-9454-473d5e1b7abb" providerId="ADAL" clId="{AB0B170C-388A-5665-B24B-AAE3B41E6CDB}" dt="2025-11-20T21:03:18.251" v="23"/>
          <ac:spMkLst>
            <pc:docMk/>
            <pc:sldMk cId="3633098072" sldId="306"/>
            <ac:spMk id="4" creationId="{3662D5B6-8D5B-E6F9-4216-22FDEB011AEE}"/>
          </ac:spMkLst>
        </pc:spChg>
        <pc:spChg chg="mod">
          <ac:chgData name="Evans, Michael J" userId="d37cb781-974c-4040-9454-473d5e1b7abb" providerId="ADAL" clId="{AB0B170C-388A-5665-B24B-AAE3B41E6CDB}" dt="2025-11-20T21:02:44.294" v="8" actId="962"/>
          <ac:spMkLst>
            <pc:docMk/>
            <pc:sldMk cId="3633098072" sldId="306"/>
            <ac:spMk id="17" creationId="{279CABE0-059C-3232-9146-48C1A8929B2D}"/>
          </ac:spMkLst>
        </pc:spChg>
        <pc:grpChg chg="mod">
          <ac:chgData name="Evans, Michael J" userId="d37cb781-974c-4040-9454-473d5e1b7abb" providerId="ADAL" clId="{AB0B170C-388A-5665-B24B-AAE3B41E6CDB}" dt="2025-11-20T21:02:35.326" v="6" actId="962"/>
          <ac:grpSpMkLst>
            <pc:docMk/>
            <pc:sldMk cId="3633098072" sldId="306"/>
            <ac:grpSpMk id="18" creationId="{830097B7-A910-E7E0-BBC2-C916407B7065}"/>
          </ac:grpSpMkLst>
        </pc:grpChg>
        <pc:cxnChg chg="mod">
          <ac:chgData name="Evans, Michael J" userId="d37cb781-974c-4040-9454-473d5e1b7abb" providerId="ADAL" clId="{AB0B170C-388A-5665-B24B-AAE3B41E6CDB}" dt="2025-11-20T21:02:20.716" v="4" actId="962"/>
          <ac:cxnSpMkLst>
            <pc:docMk/>
            <pc:sldMk cId="3633098072" sldId="306"/>
            <ac:cxnSpMk id="5" creationId="{E642CCAB-4567-D422-FC27-04958344D509}"/>
          </ac:cxnSpMkLst>
        </pc:cxnChg>
      </pc:sldChg>
      <pc:sldChg chg="modSp mod">
        <pc:chgData name="Evans, Michael J" userId="d37cb781-974c-4040-9454-473d5e1b7abb" providerId="ADAL" clId="{AB0B170C-388A-5665-B24B-AAE3B41E6CDB}" dt="2025-11-20T21:02:46.198" v="9" actId="962"/>
        <pc:sldMkLst>
          <pc:docMk/>
          <pc:sldMk cId="219579319" sldId="307"/>
        </pc:sldMkLst>
        <pc:cxnChg chg="mod">
          <ac:chgData name="Evans, Michael J" userId="d37cb781-974c-4040-9454-473d5e1b7abb" providerId="ADAL" clId="{AB0B170C-388A-5665-B24B-AAE3B41E6CDB}" dt="2025-11-20T21:02:46.198" v="9" actId="962"/>
          <ac:cxnSpMkLst>
            <pc:docMk/>
            <pc:sldMk cId="219579319" sldId="307"/>
            <ac:cxnSpMk id="5" creationId="{4D80F22A-C373-2348-AA6C-A51DE3F8C3F8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E4F1DC-99E7-AD49-A084-CB5741C208DE}" type="datetimeFigureOut">
              <a:rPr lang="en-US" smtClean="0"/>
              <a:t>11/20/25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64EF7C9-FB45-0E49-9994-7913C7D118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40060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9E9B09-4333-B32E-7F91-2E997ED6C1B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B54A81-3D2E-12CD-8D91-F42D7CD66BE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783ABA4-CD08-7641-DB49-B34CCF7084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44962A-6380-2C46-A729-B78212BA7A91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798464-AFA5-DA9B-1AC7-CD25B64509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24F71D9-9084-0478-D288-97A46B5C1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92874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01909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D9DA0A-355D-833F-4BC2-430EBF63B7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CB6DF3-80B1-9B27-376F-96897A0B12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CE8158-7FBD-7AEE-448D-A8A9011C39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455A47-C368-2A4F-B5BE-DCA95FCAEF0E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BB341A-C831-7D0C-3351-841749EDC0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E4707B-18AF-FB1A-E7A5-DA8D7181F5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0518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8CDE7D-D42D-3E5C-09A1-89D0989180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C6A71E1-8DF8-A960-DFE3-8145AC2DBD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154D8F7-532C-8C9B-68CC-B587FB2C8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82341E-C701-D44F-BF4E-6941BF3FF35E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12DE8E-5CD9-EE41-D460-EBFD40859A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737A9C-C678-B5A1-DB57-B8081444A3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30067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B402C-19A4-3BE5-A14D-E99C656FC7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C3D94D-FE12-2C36-151F-F7C8DD29913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2AB9F9D-1726-F042-769D-811377AFE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A184F75-BD26-C9E7-C41A-11FDD60C6F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33BDC7-B1C7-5A47-A90F-ADF0FC1DFC93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8EBAF45-3107-FAEB-38A6-2F8930AE2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EEE464-87E1-69CC-766D-9F26392047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6804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8276FA-876B-F685-A6B6-EEA036288A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2C92804-C983-4059-9FE8-D071806486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172E26-9CB5-C438-B294-4F31C1B05D8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07C33F2-0BC0-B7F9-2CC4-FA07D094BB8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E0B4C1C-7375-859F-3F15-3C97CF90612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CF2AC62-50DD-305B-1868-D1AC7D3827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1E7DF01-52E1-C24C-B977-E570E94A72E0}" type="datetime1">
              <a:rPr lang="en-US" smtClean="0"/>
              <a:t>11/20/25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E1CE86-3D37-E924-CBBB-398AAC99C4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16CDF9-F887-37AB-0A25-55DA84AA6E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61649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B6FDBF-7C86-32B0-A111-B4B11BE2FB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376F7B-F73D-6CF2-EFF2-EE152BDB62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8C56AE-5A33-F848-B490-6CC0DEF0144F}" type="datetime1">
              <a:rPr lang="en-US" smtClean="0"/>
              <a:t>11/20/25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49227D9-5E08-A441-379B-1948D009C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66798D-4D1C-C9B1-12D0-C984B144FC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08064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2B7612-431E-8C78-58BF-179413909F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24D039-004F-474E-AC44-6D8F69794262}" type="datetime1">
              <a:rPr lang="en-US" smtClean="0"/>
              <a:t>11/20/25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A49ADD-D2B5-8D9A-239A-4A8F13DFEA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C2E766-3165-D926-6337-93E2B7BEC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8101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FA4C16-DA45-B49E-18FC-8E7AC5813E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345DD3-FE4B-A02E-1DCE-612AEA275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A7CCE31-F666-D3EE-79C8-40E7E92662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3AADD2-313B-1ED0-9A8B-BC0F6FCF3D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2C6E8-3EBE-D642-B288-85027E93DD43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8EE64B-5CC1-515F-881B-F7BA4406A2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3D6973B-BB0F-4E91-5B9A-B71CBC74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61697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BEA0BB-F372-A985-6186-D8428643EF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73DF36D-1307-F9B0-C80A-08B233F69AF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F419E8-0F8E-AB67-41DC-A6FBBE2A15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FE58DC-B059-62BF-AE70-EF81AFCE3F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F32B1FE-B8F6-ED42-A32A-B888613C827F}" type="datetime1">
              <a:rPr lang="en-US" smtClean="0"/>
              <a:t>11/20/25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53AF49-60B7-09D0-0F27-D019331396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A45E62-5A26-C5B1-F5B4-6171C46B30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15698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54077F-BA26-6B85-1109-CCE428F88A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8C77DF-07C7-9F25-976D-FFAFA53439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7653A8-3412-62EC-6773-2C0F944ED6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74CBE56-6607-5C4A-9921-934FAB8E4532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19D7CD-65D9-E4F0-2341-AE65F1271F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F2D7025-6B8A-D684-1C64-2301DDAC8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9506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9C84B58-32C2-A4EF-FF4E-6456BC59B49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7C0C98-6F97-1AFE-E487-9FEC702827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8136AA-0989-0861-1B37-75A8EBB5D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6AAEB1-60A9-514F-981B-B9386A82945D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5A38F8F-80C4-9110-D166-9C5E451FDD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81FD2D-6C82-B671-07D0-2FF20B38E5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799" y="6489521"/>
            <a:ext cx="2743200" cy="365125"/>
          </a:xfrm>
          <a:prstGeom prst="rect">
            <a:avLst/>
          </a:prstGeom>
        </p:spPr>
        <p:txBody>
          <a:bodyPr/>
          <a:lstStyle/>
          <a:p>
            <a:fld id="{7AA357FA-A2A0-DB43-ACF2-E3C3248777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8312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6E423F-316A-FFC0-2FAD-11D27299AF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92E7CE-9ED3-C138-7503-B48AA35440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9ACCF-8442-7168-673E-11ABBF0E49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fld id="{9B230A16-2976-3E44-90C9-3A22F491C7E2}" type="datetime1">
              <a:rPr lang="en-US" smtClean="0"/>
              <a:t>11/20/25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5B85F02-012E-F2C6-C461-D769C2D899E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934741-1D09-A1D7-14B1-E99D1C0BF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799" y="649287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Source Sans Pro" panose="020B0503030403020204" pitchFamily="34" charset="0"/>
                <a:cs typeface="Arial" panose="020B0604020202020204" pitchFamily="34" charset="0"/>
              </a:defRPr>
            </a:lvl1pPr>
          </a:lstStyle>
          <a:p>
            <a:fld id="{7AA357FA-A2A0-DB43-ACF2-E3C3248777A9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57C3DFE-A830-BD66-0A09-FC32FF6FFF86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11449878" y="1"/>
            <a:ext cx="742121" cy="4901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507109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Source Sans Pro" panose="020B0503030403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Source Sans Pro" panose="020B0503030403020204" pitchFamily="34" charset="0"/>
          <a:ea typeface="+mn-ea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A73618-B985-D05F-F5AE-563D8B3C65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7572" y="1856009"/>
            <a:ext cx="10816856" cy="2387600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Module 4: Describing Chemical</a:t>
            </a:r>
            <a:br>
              <a:rPr lang="en-US" b="1" dirty="0"/>
            </a:br>
            <a:r>
              <a:rPr lang="en-US" b="1" dirty="0"/>
              <a:t>and Physical Changes</a:t>
            </a:r>
            <a:br>
              <a:rPr lang="en-US" dirty="0"/>
            </a:br>
            <a:r>
              <a:rPr lang="en-US" dirty="0"/>
              <a:t>Balancing and Interpreting</a:t>
            </a:r>
            <a:br>
              <a:rPr lang="en-US" dirty="0"/>
            </a:br>
            <a:r>
              <a:rPr lang="en-US" dirty="0"/>
              <a:t>Chemical Equations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12D0AFD-E86D-8859-BB44-C50E9B1EB73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335684"/>
            <a:ext cx="9144000" cy="1655762"/>
          </a:xfrm>
        </p:spPr>
        <p:txBody>
          <a:bodyPr/>
          <a:lstStyle/>
          <a:p>
            <a:r>
              <a:rPr lang="en-US" dirty="0"/>
              <a:t>Fundamentals of Chemistry Open Course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1E804D-1209-EACA-324C-50D0DDD29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017844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7A72F-7FE9-6B75-2BB0-86458C17D2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Learning Objectives | Module 4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EBA2BA1-4D6C-B397-23BA-566D86BFD9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8C4F782-F384-3DA2-10EC-5A8E281AEDF2}"/>
              </a:ext>
            </a:extLst>
          </p:cNvPr>
          <p:cNvSpPr txBox="1"/>
          <p:nvPr/>
        </p:nvSpPr>
        <p:spPr>
          <a:xfrm>
            <a:off x="367862" y="746235"/>
            <a:ext cx="114562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</a:rPr>
              <a:t>Distinguish between chemical and physical changes, particularly in equations containing chemical formulas.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latin typeface="Source Sans Pro" panose="020B0503030403020204" pitchFamily="34" charset="0"/>
              </a:rPr>
              <a:t>Interpret chemical equations to visualize chemical reactions or physical changes.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Determine whether a given chemical equation is balanced or not; balance chemical equations.</a:t>
            </a: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sz="1800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Source Sans Pro" panose="020B0503030403020204" pitchFamily="34" charset="0"/>
              </a:rPr>
              <a:t>Apply chemical equations to determine the outcome of a chemical reaction on the submicroscopic level.</a:t>
            </a: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endParaRPr lang="en-US" dirty="0">
              <a:latin typeface="Source Sans Pro" panose="020B0503030403020204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en-US" sz="1800" dirty="0">
                <a:latin typeface="Source Sans Pro" panose="020B0503030403020204" pitchFamily="34" charset="0"/>
              </a:rPr>
              <a:t>Convert a submicroscopic image of a chemical reaction or physical change into a chemical equation.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DEFBEB5-EBED-89B9-7E74-048D3365E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8306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D5013-2056-B352-147C-83762B40B6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81E554-7A23-5BE0-B11D-6CA1691EA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Conservation of Mass in Chemical Equations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62BF904E-B185-4B4C-4527-BC743CB558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1C856D4-B914-444B-37D7-A284AAC76839}"/>
              </a:ext>
            </a:extLst>
          </p:cNvPr>
          <p:cNvSpPr txBox="1"/>
          <p:nvPr/>
        </p:nvSpPr>
        <p:spPr>
          <a:xfrm>
            <a:off x="367862" y="746235"/>
            <a:ext cx="11456276" cy="4124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Valid chemical equations are </a:t>
            </a:r>
            <a:r>
              <a:rPr lang="en-US" b="1" dirty="0">
                <a:solidFill>
                  <a:srgbClr val="0070C0"/>
                </a:solidFill>
                <a:latin typeface="Source Sans Pro" panose="020B0503030403020204" pitchFamily="34" charset="0"/>
              </a:rPr>
              <a:t>balanced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. </a:t>
            </a:r>
            <a:r>
              <a:rPr lang="en-US" dirty="0">
                <a:latin typeface="Source Sans Pro" panose="020B0503030403020204" pitchFamily="34" charset="0"/>
              </a:rPr>
              <a:t>From the law of conservation of mass, it follows that in a physically valid chemical equation, the numbers of each type of atom must be equal on the reactant and product sides.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To find the number of atoms of an element in a substance in an equation, we multiply the subscript(s) on that element by the stoichiometric coefficient of the substance.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r>
              <a:rPr lang="en-US" b="1" dirty="0">
                <a:latin typeface="Source Sans Pro" panose="020B0503030403020204" pitchFamily="34" charset="0"/>
              </a:rPr>
              <a:t>Example.</a:t>
            </a:r>
            <a:r>
              <a:rPr lang="en-US" dirty="0">
                <a:latin typeface="Source Sans Pro" panose="020B0503030403020204" pitchFamily="34" charset="0"/>
              </a:rPr>
              <a:t> Tin(IV) chloride reacts with sulfuric acid to yield tin(IV) sulfate and hydrochloric acid. A balanced chemical equation for this process is shown below. Show that the equation is balanced.</a:t>
            </a:r>
          </a:p>
          <a:p>
            <a:endParaRPr lang="en-US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latin typeface="Source Sans Pro" panose="020B0503030403020204" pitchFamily="34" charset="0"/>
              </a:rPr>
              <a:t>SnCl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 + 2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SO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 → Sn(SO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 + 4 HCl</a:t>
            </a:r>
            <a:endParaRPr lang="en-US" sz="2800" b="1" dirty="0">
              <a:latin typeface="Source Sans Pro" panose="020B0503030403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287B909-1A98-61D8-B7F7-6CDAFC32A1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4303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197565-C60C-26F7-FD82-E5407E53F9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360C30-51D4-AF89-2507-FA6969E8B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Balancing Chemical Equations | </a:t>
            </a:r>
            <a:r>
              <a:rPr lang="en-US" sz="2400" dirty="0">
                <a:solidFill>
                  <a:srgbClr val="0070C0"/>
                </a:solidFill>
              </a:rPr>
              <a:t>1 of 2</a:t>
            </a:r>
            <a:endParaRPr lang="en-US" sz="2400" dirty="0"/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B1C2FC2-1247-46C1-89C0-37456C3F5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EC478C84-8B61-1140-889B-A2C4D083BE7E}"/>
              </a:ext>
            </a:extLst>
          </p:cNvPr>
          <p:cNvSpPr txBox="1"/>
          <p:nvPr/>
        </p:nvSpPr>
        <p:spPr>
          <a:xfrm>
            <a:off x="367862" y="746235"/>
            <a:ext cx="1145627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If chemical formulas of the reactants and products are known, we can </a:t>
            </a:r>
            <a:r>
              <a:rPr lang="en-US" b="1" dirty="0">
                <a:latin typeface="Source Sans Pro" panose="020B0503030403020204" pitchFamily="34" charset="0"/>
              </a:rPr>
              <a:t>balance</a:t>
            </a:r>
            <a:r>
              <a:rPr lang="en-US" dirty="0">
                <a:latin typeface="Source Sans Pro" panose="020B0503030403020204" pitchFamily="34" charset="0"/>
              </a:rPr>
              <a:t> a chemical equation by adjusting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the stoichiometric coefficients to equalize the atoms on both sides of the equation.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Decimal or fractional coefficients are completely fine in chemical equations!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Balancing can be done by inspection by focusing on 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elements that appear in only one substance</a:t>
            </a:r>
            <a:b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</a:b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on each side of the equation.</a:t>
            </a:r>
            <a:r>
              <a:rPr lang="en-US" dirty="0">
                <a:latin typeface="Source Sans Pro" panose="020B0503030403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r>
              <a:rPr lang="en-US" b="1" dirty="0">
                <a:latin typeface="Source Sans Pro" panose="020B0503030403020204" pitchFamily="34" charset="0"/>
              </a:rPr>
              <a:t>Example.</a:t>
            </a:r>
            <a:r>
              <a:rPr lang="en-US" dirty="0">
                <a:latin typeface="Source Sans Pro" panose="020B0503030403020204" pitchFamily="34" charset="0"/>
              </a:rPr>
              <a:t> Balance the following chemical equation by inspection.</a:t>
            </a:r>
          </a:p>
          <a:p>
            <a:endParaRPr lang="en-US" b="1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latin typeface="Source Sans Pro" panose="020B0503030403020204" pitchFamily="34" charset="0"/>
              </a:rPr>
              <a:t>Rb +     RbNO</a:t>
            </a:r>
            <a:r>
              <a:rPr lang="en-US" sz="2800" baseline="-25000" dirty="0">
                <a:latin typeface="Source Sans Pro" panose="020B0503030403020204" pitchFamily="34" charset="0"/>
              </a:rPr>
              <a:t>3</a:t>
            </a:r>
            <a:r>
              <a:rPr lang="en-US" sz="2800" dirty="0">
                <a:latin typeface="Source Sans Pro" panose="020B0503030403020204" pitchFamily="34" charset="0"/>
              </a:rPr>
              <a:t> →     Rb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 +     N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A13C509-DF8E-EDB0-F89D-83B811193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428507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FCCE3-3A2D-39AE-53B2-29280ED963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4DD994-5F54-FC56-B6C0-D3990F064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Balancing Chemical Equations | </a:t>
            </a:r>
            <a:r>
              <a:rPr lang="en-US" sz="2400" dirty="0">
                <a:solidFill>
                  <a:srgbClr val="0070C0"/>
                </a:solidFill>
              </a:rPr>
              <a:t>2 of 2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256E7FD1-EA1B-DFDB-3FF0-BE6905D678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610E1AA-06C0-7772-BC68-F09DB2B63E78}"/>
              </a:ext>
            </a:extLst>
          </p:cNvPr>
          <p:cNvSpPr txBox="1"/>
          <p:nvPr/>
        </p:nvSpPr>
        <p:spPr>
          <a:xfrm>
            <a:off x="367862" y="746235"/>
            <a:ext cx="11456276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Balancing can also be done systematically using a system of equations or matrix algebra.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i="1" dirty="0">
                <a:solidFill>
                  <a:srgbClr val="C00000"/>
                </a:solidFill>
                <a:latin typeface="Source Sans Pro" panose="020B0503030403020204" pitchFamily="34" charset="0"/>
              </a:rPr>
              <a:t>NOT</a:t>
            </a:r>
            <a:r>
              <a:rPr lang="en-US" dirty="0">
                <a:solidFill>
                  <a:srgbClr val="C00000"/>
                </a:solidFill>
                <a:latin typeface="Source Sans Pro" panose="020B0503030403020204" pitchFamily="34" charset="0"/>
              </a:rPr>
              <a:t> recommended unless the equation is extremely complicated!</a:t>
            </a:r>
            <a:r>
              <a:rPr lang="en-US" dirty="0">
                <a:latin typeface="Source Sans Pro" panose="020B0503030403020204" pitchFamily="34" charset="0"/>
              </a:rPr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An equation is set up for each element that has the form [atoms on the left] = [atoms on the right].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One of the coefficients can be assumed equal to 1. Remember that if </a:t>
            </a:r>
            <a:r>
              <a:rPr lang="en-US">
                <a:latin typeface="Source Sans Pro" panose="020B0503030403020204" pitchFamily="34" charset="0"/>
              </a:rPr>
              <a:t>desired,</a:t>
            </a:r>
            <a:br>
              <a:rPr lang="en-US">
                <a:latin typeface="Source Sans Pro" panose="020B0503030403020204" pitchFamily="34" charset="0"/>
              </a:rPr>
            </a:br>
            <a:r>
              <a:rPr lang="en-US">
                <a:latin typeface="Source Sans Pro" panose="020B0503030403020204" pitchFamily="34" charset="0"/>
              </a:rPr>
              <a:t>all </a:t>
            </a:r>
            <a:r>
              <a:rPr lang="en-US" dirty="0">
                <a:latin typeface="Source Sans Pro" panose="020B0503030403020204" pitchFamily="34" charset="0"/>
              </a:rPr>
              <a:t>coefficients can be scaled </a:t>
            </a:r>
            <a:r>
              <a:rPr lang="en-US">
                <a:latin typeface="Source Sans Pro" panose="020B0503030403020204" pitchFamily="34" charset="0"/>
              </a:rPr>
              <a:t>at the end.</a:t>
            </a: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r>
              <a:rPr lang="en-US" b="1" dirty="0">
                <a:latin typeface="Source Sans Pro" panose="020B0503030403020204" pitchFamily="34" charset="0"/>
              </a:rPr>
              <a:t>Example.</a:t>
            </a:r>
            <a:r>
              <a:rPr lang="en-US" dirty="0">
                <a:latin typeface="Source Sans Pro" panose="020B0503030403020204" pitchFamily="34" charset="0"/>
              </a:rPr>
              <a:t> Balance the following chemical equation using a system of equations.</a:t>
            </a:r>
          </a:p>
          <a:p>
            <a:endParaRPr lang="en-US" b="1" dirty="0">
              <a:latin typeface="Source Sans Pro" panose="020B0503030403020204" pitchFamily="34" charset="0"/>
            </a:endParaRPr>
          </a:p>
          <a:p>
            <a:pPr algn="ctr"/>
            <a:r>
              <a:rPr lang="en-US" sz="2800" i="1" dirty="0">
                <a:latin typeface="Source Sans Pro" panose="020B0503030403020204" pitchFamily="34" charset="0"/>
              </a:rPr>
              <a:t>x</a:t>
            </a:r>
            <a:r>
              <a:rPr lang="en-US" sz="2800" baseline="-25000" dirty="0">
                <a:latin typeface="Source Sans Pro" panose="020B0503030403020204" pitchFamily="34" charset="0"/>
              </a:rPr>
              <a:t>1</a:t>
            </a:r>
            <a:r>
              <a:rPr lang="en-US" sz="2800" dirty="0">
                <a:latin typeface="Source Sans Pro" panose="020B0503030403020204" pitchFamily="34" charset="0"/>
              </a:rPr>
              <a:t> Rb + </a:t>
            </a:r>
            <a:r>
              <a:rPr lang="en-US" sz="2800" i="1" dirty="0">
                <a:latin typeface="Source Sans Pro" panose="020B0503030403020204" pitchFamily="34" charset="0"/>
              </a:rPr>
              <a:t>x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 RbNO</a:t>
            </a:r>
            <a:r>
              <a:rPr lang="en-US" sz="2800" baseline="-25000" dirty="0">
                <a:latin typeface="Source Sans Pro" panose="020B0503030403020204" pitchFamily="34" charset="0"/>
              </a:rPr>
              <a:t>3</a:t>
            </a:r>
            <a:r>
              <a:rPr lang="en-US" sz="2800" dirty="0">
                <a:latin typeface="Source Sans Pro" panose="020B0503030403020204" pitchFamily="34" charset="0"/>
              </a:rPr>
              <a:t> → </a:t>
            </a:r>
            <a:r>
              <a:rPr lang="en-US" sz="2800" i="1" dirty="0">
                <a:latin typeface="Source Sans Pro" panose="020B0503030403020204" pitchFamily="34" charset="0"/>
              </a:rPr>
              <a:t>x</a:t>
            </a:r>
            <a:r>
              <a:rPr lang="en-US" sz="2800" baseline="-25000" dirty="0">
                <a:latin typeface="Source Sans Pro" panose="020B0503030403020204" pitchFamily="34" charset="0"/>
              </a:rPr>
              <a:t>3</a:t>
            </a:r>
            <a:r>
              <a:rPr lang="en-US" sz="2800" dirty="0">
                <a:latin typeface="Source Sans Pro" panose="020B0503030403020204" pitchFamily="34" charset="0"/>
              </a:rPr>
              <a:t> Rb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 +</a:t>
            </a:r>
            <a:r>
              <a:rPr lang="en-US" sz="2800" i="1" dirty="0">
                <a:latin typeface="Source Sans Pro" panose="020B0503030403020204" pitchFamily="34" charset="0"/>
              </a:rPr>
              <a:t> </a:t>
            </a:r>
            <a:r>
              <a:rPr lang="en-US" sz="2800" dirty="0">
                <a:solidFill>
                  <a:srgbClr val="0070C0"/>
                </a:solidFill>
                <a:latin typeface="Source Sans Pro" panose="020B0503030403020204" pitchFamily="34" charset="0"/>
              </a:rPr>
              <a:t>1</a:t>
            </a:r>
            <a:r>
              <a:rPr lang="en-US" sz="2800" dirty="0">
                <a:latin typeface="Source Sans Pro" panose="020B0503030403020204" pitchFamily="34" charset="0"/>
              </a:rPr>
              <a:t> N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FCD2E1-418C-78F8-A754-DAFCD868E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91069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CF5B6B-C904-A2C4-016C-80153ACC2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3A84BE-C8AD-67DF-C717-0873D376F4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Submicroscopic Models of Chemical Reactions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E642CCAB-4567-D422-FC27-04958344D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0D6B324-24FB-188B-F119-41B25982ED9B}"/>
              </a:ext>
            </a:extLst>
          </p:cNvPr>
          <p:cNvSpPr txBox="1"/>
          <p:nvPr/>
        </p:nvSpPr>
        <p:spPr>
          <a:xfrm>
            <a:off x="367862" y="746235"/>
            <a:ext cx="11456276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When molecules combine in chemical reactions, </a:t>
            </a:r>
            <a:r>
              <a:rPr lang="en-US" dirty="0">
                <a:solidFill>
                  <a:srgbClr val="0070C0"/>
                </a:solidFill>
                <a:latin typeface="Source Sans Pro" panose="020B0503030403020204" pitchFamily="34" charset="0"/>
              </a:rPr>
              <a:t>atoms are conserved.</a:t>
            </a:r>
            <a:r>
              <a:rPr lang="en-US" dirty="0">
                <a:latin typeface="Source Sans Pro" panose="020B0503030403020204" pitchFamily="34" charset="0"/>
              </a:rPr>
              <a:t> Each </a:t>
            </a:r>
            <a:r>
              <a:rPr lang="en-US" b="1" dirty="0">
                <a:latin typeface="Source Sans Pro" panose="020B0503030403020204" pitchFamily="34" charset="0"/>
              </a:rPr>
              <a:t>reaction event</a:t>
            </a:r>
            <a:r>
              <a:rPr lang="en-US" dirty="0">
                <a:latin typeface="Source Sans Pro" panose="020B0503030403020204" pitchFamily="34" charset="0"/>
              </a:rPr>
              <a:t> takes place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in accordance with the balanced chemical equation.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solidFill>
                <a:srgbClr val="0070C0"/>
              </a:solidFill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Using a balanced equation and numbers of reactant molecules, we can work out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the composition of a reaction mixture at the end of the reaction.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r>
              <a:rPr lang="en-US" b="1" dirty="0">
                <a:latin typeface="Source Sans Pro" panose="020B0503030403020204" pitchFamily="34" charset="0"/>
              </a:rPr>
              <a:t>Example.</a:t>
            </a:r>
            <a:r>
              <a:rPr lang="en-US" dirty="0">
                <a:latin typeface="Source Sans Pro" panose="020B0503030403020204" pitchFamily="34" charset="0"/>
              </a:rPr>
              <a:t> Ethylene (C</a:t>
            </a:r>
            <a:r>
              <a:rPr lang="en-US" baseline="-25000" dirty="0">
                <a:latin typeface="Source Sans Pro" panose="020B0503030403020204" pitchFamily="34" charset="0"/>
              </a:rPr>
              <a:t>2</a:t>
            </a:r>
            <a:r>
              <a:rPr lang="en-US" dirty="0">
                <a:latin typeface="Source Sans Pro" panose="020B0503030403020204" pitchFamily="34" charset="0"/>
              </a:rPr>
              <a:t>H</a:t>
            </a:r>
            <a:r>
              <a:rPr lang="en-US" baseline="-25000" dirty="0">
                <a:latin typeface="Source Sans Pro" panose="020B0503030403020204" pitchFamily="34" charset="0"/>
              </a:rPr>
              <a:t>4</a:t>
            </a:r>
            <a:r>
              <a:rPr lang="en-US" dirty="0">
                <a:latin typeface="Source Sans Pro" panose="020B0503030403020204" pitchFamily="34" charset="0"/>
              </a:rPr>
              <a:t>) reacts with oxygen (O</a:t>
            </a:r>
            <a:r>
              <a:rPr lang="en-US" baseline="-25000" dirty="0">
                <a:latin typeface="Source Sans Pro" panose="020B0503030403020204" pitchFamily="34" charset="0"/>
              </a:rPr>
              <a:t>2</a:t>
            </a:r>
            <a:r>
              <a:rPr lang="en-US" dirty="0">
                <a:latin typeface="Source Sans Pro" panose="020B0503030403020204" pitchFamily="34" charset="0"/>
              </a:rPr>
              <a:t>) according to the balanced chemical equation below. What is the composition of the reaction mixture at the end of the reaction, given the numbers of molecules in the image?</a:t>
            </a:r>
          </a:p>
          <a:p>
            <a:endParaRPr lang="en-US" b="1" dirty="0">
              <a:latin typeface="Source Sans Pro" panose="020B0503030403020204" pitchFamily="34" charset="0"/>
            </a:endParaRPr>
          </a:p>
          <a:p>
            <a:pPr algn="ctr"/>
            <a:r>
              <a:rPr lang="en-US" sz="2800" dirty="0">
                <a:latin typeface="Source Sans Pro" panose="020B0503030403020204" pitchFamily="34" charset="0"/>
              </a:rPr>
              <a:t>C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H</a:t>
            </a:r>
            <a:r>
              <a:rPr lang="en-US" sz="2800" baseline="-25000" dirty="0">
                <a:latin typeface="Source Sans Pro" panose="020B0503030403020204" pitchFamily="34" charset="0"/>
              </a:rPr>
              <a:t>4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+ 3 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→ 2 CO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 + 2 H</a:t>
            </a:r>
            <a:r>
              <a:rPr lang="en-US" sz="2800" baseline="-25000" dirty="0">
                <a:latin typeface="Source Sans Pro" panose="020B0503030403020204" pitchFamily="34" charset="0"/>
              </a:rPr>
              <a:t>2</a:t>
            </a:r>
            <a:r>
              <a:rPr lang="en-US" sz="2800" dirty="0">
                <a:latin typeface="Source Sans Pro" panose="020B0503030403020204" pitchFamily="34" charset="0"/>
              </a:rPr>
              <a:t>O(</a:t>
            </a:r>
            <a:r>
              <a:rPr lang="en-US" sz="2800" i="1" dirty="0">
                <a:latin typeface="Source Sans Pro" panose="020B0503030403020204" pitchFamily="34" charset="0"/>
              </a:rPr>
              <a:t>g</a:t>
            </a:r>
            <a:r>
              <a:rPr lang="en-US" sz="2800" dirty="0">
                <a:latin typeface="Source Sans Pro" panose="020B0503030403020204" pitchFamily="34" charset="0"/>
              </a:rPr>
              <a:t>)</a:t>
            </a:r>
          </a:p>
        </p:txBody>
      </p:sp>
      <p:grpSp>
        <p:nvGrpSpPr>
          <p:cNvPr id="18" name="Group 17" descr="Seven molecules of dioxygen and four molecules of ethylene are shown.">
            <a:extLst>
              <a:ext uri="{FF2B5EF4-FFF2-40B4-BE49-F238E27FC236}">
                <a16:creationId xmlns:a16="http://schemas.microsoft.com/office/drawing/2014/main" id="{830097B7-A910-E7E0-BBC2-C916407B7065}"/>
              </a:ext>
            </a:extLst>
          </p:cNvPr>
          <p:cNvGrpSpPr/>
          <p:nvPr/>
        </p:nvGrpSpPr>
        <p:grpSpPr>
          <a:xfrm>
            <a:off x="1718046" y="4088740"/>
            <a:ext cx="2901803" cy="2331304"/>
            <a:chOff x="888705" y="3950515"/>
            <a:chExt cx="2901803" cy="2331304"/>
          </a:xfrm>
        </p:grpSpPr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038CA1A8-73BA-34B8-66E6-E793BC82900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167810" y="3987332"/>
              <a:ext cx="1011864" cy="1011864"/>
            </a:xfrm>
            <a:prstGeom prst="rect">
              <a:avLst/>
            </a:prstGeom>
          </p:spPr>
        </p:pic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88120042-071A-1A19-4A99-2727B1741E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97689" y="5093118"/>
              <a:ext cx="1011864" cy="1011864"/>
            </a:xfrm>
            <a:prstGeom prst="rect">
              <a:avLst/>
            </a:prstGeom>
          </p:spPr>
        </p:pic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D74234E3-E175-0BAE-BFF3-4DB66A249F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348024" y="4178718"/>
              <a:ext cx="1011864" cy="1011864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3EA85EC6-6820-A236-E5A2-8B7CA5158A39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14108" y="5252606"/>
              <a:ext cx="1011864" cy="1011864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9F29BCA8-44B8-D3C3-2300-82280BB23A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8043" y="3950515"/>
              <a:ext cx="559981" cy="283324"/>
            </a:xfrm>
            <a:prstGeom prst="rect">
              <a:avLst/>
            </a:prstGeom>
          </p:spPr>
        </p:pic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FF867357-7DEB-4046-7C1A-B5F9C01F7AB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935321" y="4092177"/>
              <a:ext cx="559981" cy="283324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4ED9CE4A-721E-1938-64C2-0DF4366A23F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897912" y="4951933"/>
              <a:ext cx="559981" cy="283324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6022873B-E27D-18A1-D6D3-6BC739520A3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07489" y="5209208"/>
              <a:ext cx="559981" cy="283324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83695596-6FB3-3F50-21F6-BF2F7380560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788042" y="5998495"/>
              <a:ext cx="559981" cy="283324"/>
            </a:xfrm>
            <a:prstGeom prst="rect">
              <a:avLst/>
            </a:prstGeom>
          </p:spPr>
        </p:pic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3437188C-DC6D-10D9-197E-8CECDDC86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0527" y="5775502"/>
              <a:ext cx="559981" cy="283324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963BD84A-3F2E-A676-9BCB-98510C76C78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888705" y="4781251"/>
              <a:ext cx="559981" cy="283324"/>
            </a:xfrm>
            <a:prstGeom prst="rect">
              <a:avLst/>
            </a:prstGeom>
          </p:spPr>
        </p:pic>
      </p:grpSp>
      <p:sp>
        <p:nvSpPr>
          <p:cNvPr id="17" name="Right Arrow 16" descr="A rightward-pointing reaction arrow.">
            <a:extLst>
              <a:ext uri="{FF2B5EF4-FFF2-40B4-BE49-F238E27FC236}">
                <a16:creationId xmlns:a16="http://schemas.microsoft.com/office/drawing/2014/main" id="{279CABE0-059C-3232-9146-48C1A8929B2D}"/>
              </a:ext>
            </a:extLst>
          </p:cNvPr>
          <p:cNvSpPr/>
          <p:nvPr/>
        </p:nvSpPr>
        <p:spPr>
          <a:xfrm>
            <a:off x="5091224" y="5104056"/>
            <a:ext cx="2009553" cy="300673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662D5B6-8D5B-E6F9-4216-22FDEB011A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309807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6A1865-05A2-F5D2-3742-802132C20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681FF-1BAE-E822-0A80-2F9867D2FC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67862" y="49786"/>
            <a:ext cx="10147738" cy="528271"/>
          </a:xfrm>
        </p:spPr>
        <p:txBody>
          <a:bodyPr>
            <a:normAutofit/>
          </a:bodyPr>
          <a:lstStyle/>
          <a:p>
            <a:r>
              <a:rPr lang="en-US" sz="2400" dirty="0"/>
              <a:t>Lingering Questions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4D80F22A-C373-2348-AA6C-A51DE3F8C3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554915"/>
            <a:ext cx="12097407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799F8408-22D3-1A18-E04C-E61442AA25A5}"/>
              </a:ext>
            </a:extLst>
          </p:cNvPr>
          <p:cNvSpPr txBox="1"/>
          <p:nvPr/>
        </p:nvSpPr>
        <p:spPr>
          <a:xfrm>
            <a:off x="367862" y="746235"/>
            <a:ext cx="11456276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How do we make use of balanced chemical equations to plan and carry out chemical reactions?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Source Sans Pro" panose="020B0503030403020204" pitchFamily="34" charset="0"/>
              </a:rPr>
              <a:t>How do we determine experimentally the chemical formulas of reactants and products</a:t>
            </a:r>
            <a:br>
              <a:rPr lang="en-US" dirty="0">
                <a:latin typeface="Source Sans Pro" panose="020B0503030403020204" pitchFamily="34" charset="0"/>
              </a:rPr>
            </a:br>
            <a:r>
              <a:rPr lang="en-US" dirty="0">
                <a:latin typeface="Source Sans Pro" panose="020B0503030403020204" pitchFamily="34" charset="0"/>
              </a:rPr>
              <a:t>and the number ratios in which they combine?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>
              <a:latin typeface="Source Sans Pro" panose="020B050303040302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87F1A5-6579-1FA1-7B6F-A7128B3681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A357FA-A2A0-DB43-ACF2-E3C3248777A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793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5069</TotalTime>
  <Words>602</Words>
  <Application>Microsoft Macintosh PowerPoint</Application>
  <PresentationFormat>Widescreen</PresentationFormat>
  <Paragraphs>75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Aptos</vt:lpstr>
      <vt:lpstr>Source Sans Pro</vt:lpstr>
      <vt:lpstr>Office Theme</vt:lpstr>
      <vt:lpstr>Module 4: Describing Chemical and Physical Changes Balancing and Interpreting Chemical Equations</vt:lpstr>
      <vt:lpstr>Learning Objectives | Module 4</vt:lpstr>
      <vt:lpstr>Conservation of Mass in Chemical Equations</vt:lpstr>
      <vt:lpstr>Balancing Chemical Equations | 1 of 2</vt:lpstr>
      <vt:lpstr>Balancing Chemical Equations | 2 of 2</vt:lpstr>
      <vt:lpstr>Submicroscopic Models of Chemical Reactions</vt:lpstr>
      <vt:lpstr>Lingering 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of Unit</dc:title>
  <dc:creator>Evans, Michael J</dc:creator>
  <cp:lastModifiedBy>Evans, Michael J</cp:lastModifiedBy>
  <cp:revision>28</cp:revision>
  <dcterms:created xsi:type="dcterms:W3CDTF">2022-12-12T13:57:18Z</dcterms:created>
  <dcterms:modified xsi:type="dcterms:W3CDTF">2025-11-20T21:03:19Z</dcterms:modified>
</cp:coreProperties>
</file>